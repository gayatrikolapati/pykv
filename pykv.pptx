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9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556000" y="-16711295"/>
            <a:ext cx="5080000" cy="33718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>
            <a:spAutoFit/>
          </a:bodyPr>
          <a:p>
            <a:pPr>
              <a:spcBef>
                <a:spcPct val="0"/>
              </a:spcBef>
              <a:spcAft>
                <a:spcPct val="60000"/>
              </a:spcAft>
            </a:pPr>
            <a:endParaRPr sz="1600">
              <a:ea typeface="Google Sans Text"/>
              <a:cs typeface="+mn-lt"/>
            </a:endParaRPr>
          </a:p>
        </p:txBody>
      </p:sp>
      <p:graphicFrame>
        <p:nvGraphicFramePr>
          <p:cNvPr id="5" name="Table 4"/>
          <p:cNvGraphicFramePr/>
          <p:nvPr/>
        </p:nvGraphicFramePr>
        <p:xfrm>
          <a:off x="3556000" y="17665066"/>
          <a:ext cx="10485120" cy="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0"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Stage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Process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Components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 b="1">
                          <a:latin typeface="Google Sans Text"/>
                          <a:ea typeface="Google Sans Text"/>
                        </a:rPr>
                        <a:t>1. Ingress</a:t>
                      </a:r>
                      <a:endParaRPr sz="1100" b="1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Client initiates </a:t>
                      </a:r>
                      <a:r>
                        <a:rPr sz="1100">
                          <a:latin typeface="Google Sans Text"/>
                          <a:ea typeface="Google Sans Text"/>
                        </a:rPr>
                        <a:t>$\text{SET}/\text{DELETE}$</a:t>
                      </a:r>
                      <a:r>
                        <a:rPr sz="1100">
                          <a:latin typeface="Google Sans Text"/>
                          <a:ea typeface="Google Sans Text"/>
                        </a:rPr>
                        <a:t> request.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CLI Client / HTTP API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 b="1">
                          <a:latin typeface="Google Sans Text"/>
                          <a:ea typeface="Google Sans Text"/>
                        </a:rPr>
                        <a:t>2. Validation</a:t>
                      </a:r>
                      <a:endParaRPr sz="1100" b="1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Request undergoes </a:t>
                      </a:r>
                      <a:r>
                        <a:rPr sz="1100">
                          <a:latin typeface="Google Sans Text"/>
                          <a:ea typeface="Google Sans Text"/>
                        </a:rPr>
                        <a:t>$\text{Pydantic}$</a:t>
                      </a:r>
                      <a:r>
                        <a:rPr sz="1100">
                          <a:latin typeface="Google Sans Text"/>
                          <a:ea typeface="Google Sans Text"/>
                        </a:rPr>
                        <a:t> schema check.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FastAPI, Pydantic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 b="1">
                          <a:latin typeface="Google Sans Text"/>
                          <a:ea typeface="Google Sans Text"/>
                        </a:rPr>
                        <a:t>3. Core Execution</a:t>
                      </a:r>
                      <a:endParaRPr sz="1100" b="1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In-memory store updates data; LRU order is adjusted.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Core Data Store, LRU Cache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 b="1">
                          <a:latin typeface="Google Sans Text"/>
                          <a:ea typeface="Google Sans Text"/>
                        </a:rPr>
                        <a:t>4. Durability</a:t>
                      </a:r>
                      <a:endParaRPr sz="1100" b="1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Operation is written to the Append-Only Log on disk.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Persistence Module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 b="1">
                          <a:latin typeface="Google Sans Text"/>
                          <a:ea typeface="Google Sans Text"/>
                        </a:rPr>
                        <a:t>5. Redundancy</a:t>
                      </a:r>
                      <a:endParaRPr sz="1100" b="1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Log entry is asynchronously shipped to the Replica Server.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Replication Module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 b="1">
                          <a:latin typeface="Google Sans Text"/>
                          <a:ea typeface="Google Sans Text"/>
                        </a:rPr>
                        <a:t>6. Egress</a:t>
                      </a:r>
                      <a:endParaRPr sz="1100" b="1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Success confirmation is returned to the Client.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sz="1100">
                          <a:latin typeface="Google Sans Text"/>
                          <a:ea typeface="Google Sans Text"/>
                        </a:rPr>
                        <a:t>FastAPI</a:t>
                      </a:r>
                      <a:endParaRPr sz="1100">
                        <a:latin typeface="Google Sans Text"/>
                        <a:ea typeface="Google Sans Tex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3556000" y="19676746"/>
            <a:ext cx="5080000" cy="3892550"/>
          </a:xfrm>
          <a:prstGeom prst="rect">
            <a:avLst/>
          </a:prstGeom>
        </p:spPr>
        <p:txBody>
          <a:bodyPr>
            <a:spAutoFit/>
          </a:bodyPr>
          <a:p>
            <a:endParaRPr sz="2600"/>
          </a:p>
          <a:p>
            <a:pPr>
              <a:spcBef>
                <a:spcPct val="0"/>
              </a:spcBef>
              <a:spcAft>
                <a:spcPct val="60000"/>
              </a:spcAft>
            </a:pPr>
            <a:r>
              <a:rPr sz="2200" b="1">
                <a:latin typeface="Google Sans Text"/>
                <a:ea typeface="Google Sans Text"/>
              </a:rPr>
              <a:t>Conclusion</a:t>
            </a:r>
            <a:endParaRPr sz="2200" b="1">
              <a:latin typeface="Google Sans Text"/>
              <a:ea typeface="Google Sans Text"/>
            </a:endParaRPr>
          </a:p>
          <a:p>
            <a:pPr>
              <a:spcBef>
                <a:spcPct val="0"/>
              </a:spcBef>
            </a:pPr>
            <a:r>
              <a:rPr sz="1600" b="1">
                <a:latin typeface="Google Sans Text"/>
                <a:ea typeface="Google Sans Text"/>
              </a:rPr>
              <a:t>(Slide 7: Summary and Q&amp;A)</a:t>
            </a:r>
            <a:endParaRPr sz="1600" b="1">
              <a:latin typeface="Google Sans Text"/>
              <a:ea typeface="Google Sans Text"/>
            </a:endParaRPr>
          </a:p>
          <a:p>
            <a:pPr>
              <a:spcBef>
                <a:spcPct val="0"/>
              </a:spcBef>
            </a:pPr>
            <a:r>
              <a:rPr sz="1600">
                <a:latin typeface="Google Sans Text"/>
                <a:ea typeface="Google Sans Text"/>
              </a:rPr>
              <a:t>PyKV successfully integrates core distributed systems concepts into a Python framework, demonstrating:</a:t>
            </a:r>
            <a:endParaRPr sz="1600">
              <a:latin typeface="Google Sans Text"/>
              <a:ea typeface="Google Sans Text"/>
            </a:endParaRPr>
          </a:p>
          <a:p>
            <a:pPr>
              <a:spcBef>
                <a:spcPct val="0"/>
              </a:spcBef>
              <a:buFont typeface="Arial" panose="020B0604020202020204"/>
              <a:buChar char="•"/>
            </a:pPr>
            <a:r>
              <a:rPr sz="1600" b="1">
                <a:latin typeface="Google Sans Text"/>
                <a:ea typeface="Google Sans Text"/>
              </a:rPr>
              <a:t>High Performance</a:t>
            </a:r>
            <a:r>
              <a:rPr sz="1600">
                <a:latin typeface="Google Sans Text"/>
                <a:ea typeface="Google Sans Text"/>
              </a:rPr>
              <a:t> via asynchronous design.</a:t>
            </a:r>
            <a:endParaRPr sz="1600">
              <a:latin typeface="Google Sans Text"/>
              <a:ea typeface="Google Sans Text"/>
            </a:endParaRPr>
          </a:p>
          <a:p>
            <a:pPr>
              <a:spcBef>
                <a:spcPct val="0"/>
              </a:spcBef>
              <a:buFont typeface="Arial" panose="020B0604020202020204"/>
              <a:buChar char="•"/>
            </a:pPr>
            <a:r>
              <a:rPr sz="1600" b="1">
                <a:latin typeface="Google Sans Text"/>
                <a:ea typeface="Google Sans Text"/>
              </a:rPr>
              <a:t>Memory Efficiency</a:t>
            </a:r>
            <a:r>
              <a:rPr sz="1600">
                <a:latin typeface="Google Sans Text"/>
                <a:ea typeface="Google Sans Text"/>
              </a:rPr>
              <a:t> via LRU caching.</a:t>
            </a:r>
            <a:endParaRPr sz="1600">
              <a:latin typeface="Google Sans Text"/>
              <a:ea typeface="Google Sans Text"/>
            </a:endParaRPr>
          </a:p>
          <a:p>
            <a:pPr>
              <a:spcBef>
                <a:spcPct val="0"/>
              </a:spcBef>
              <a:buFont typeface="Arial" panose="020B0604020202020204"/>
              <a:buChar char="•"/>
            </a:pPr>
            <a:r>
              <a:rPr sz="1600" b="1">
                <a:latin typeface="Google Sans Text"/>
                <a:ea typeface="Google Sans Text"/>
              </a:rPr>
              <a:t>Durability</a:t>
            </a:r>
            <a:r>
              <a:rPr sz="1600">
                <a:latin typeface="Google Sans Text"/>
                <a:ea typeface="Google Sans Text"/>
              </a:rPr>
              <a:t> via Write-Ahead Logging.</a:t>
            </a:r>
            <a:endParaRPr sz="1600">
              <a:latin typeface="Google Sans Text"/>
              <a:ea typeface="Google Sans Text"/>
            </a:endParaRPr>
          </a:p>
          <a:p>
            <a:pPr>
              <a:spcBef>
                <a:spcPct val="0"/>
              </a:spcBef>
              <a:buFont typeface="Arial" panose="020B0604020202020204"/>
              <a:buChar char="•"/>
            </a:pPr>
            <a:r>
              <a:rPr sz="1600" b="1">
                <a:latin typeface="Google Sans Text"/>
                <a:ea typeface="Google Sans Text"/>
              </a:rPr>
              <a:t>High Availability</a:t>
            </a:r>
            <a:r>
              <a:rPr sz="1600">
                <a:latin typeface="Google Sans Text"/>
                <a:ea typeface="Google Sans Text"/>
              </a:rPr>
              <a:t> via Replication.</a:t>
            </a:r>
            <a:endParaRPr sz="1600">
              <a:latin typeface="Google Sans Text"/>
              <a:ea typeface="Google Sans Text"/>
            </a:endParaRPr>
          </a:p>
          <a:p>
            <a:pPr>
              <a:spcBef>
                <a:spcPct val="0"/>
              </a:spcBef>
            </a:pPr>
            <a:r>
              <a:rPr sz="1600">
                <a:latin typeface="Google Sans Text"/>
                <a:ea typeface="Google Sans Text"/>
              </a:rPr>
              <a:t>We have built a resilient, scalable key-value solution. Thank you. We are now ready for your questions.</a:t>
            </a:r>
            <a:endParaRPr sz="1600">
              <a:latin typeface="Google Sans Text"/>
              <a:ea typeface="Google Sans Text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781685" y="786765"/>
            <a:ext cx="10973435" cy="1506855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en-US" sz="4400"/>
              <a:t>                                  </a:t>
            </a:r>
            <a:r>
              <a:rPr sz="4400"/>
              <a:t> </a:t>
            </a:r>
            <a:r>
              <a:rPr sz="4800" b="1"/>
              <a:t>PyKV</a:t>
            </a:r>
            <a:endParaRPr sz="4800"/>
          </a:p>
          <a:p>
            <a:r>
              <a:rPr sz="4400"/>
              <a:t> </a:t>
            </a:r>
            <a:r>
              <a:rPr sz="3600" b="1"/>
              <a:t>A Scalable, Persistent, an</a:t>
            </a:r>
            <a:r>
              <a:rPr lang="en-US" sz="3600" b="1"/>
              <a:t>d </a:t>
            </a:r>
            <a:r>
              <a:rPr sz="3600" b="1"/>
              <a:t>Distributed </a:t>
            </a:r>
            <a:r>
              <a:rPr lang="en-US" sz="3600" b="1"/>
              <a:t> </a:t>
            </a:r>
            <a:r>
              <a:rPr sz="3600" b="1"/>
              <a:t>Key-Value Stor</a:t>
            </a:r>
            <a:r>
              <a:rPr sz="3600"/>
              <a:t>e</a:t>
            </a:r>
            <a:endParaRPr sz="3600"/>
          </a:p>
        </p:txBody>
      </p:sp>
      <p:sp>
        <p:nvSpPr>
          <p:cNvPr id="8" name="Text Box 7"/>
          <p:cNvSpPr txBox="1"/>
          <p:nvPr/>
        </p:nvSpPr>
        <p:spPr>
          <a:xfrm>
            <a:off x="1148080" y="2890520"/>
            <a:ext cx="10974070" cy="11982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400"/>
              <a:t>            </a:t>
            </a:r>
            <a:r>
              <a:rPr lang="en-US" altLang="en-GB" sz="2800" b="1"/>
              <a:t>PyKV</a:t>
            </a:r>
            <a:r>
              <a:rPr lang="en-US" altLang="en-GB" sz="2800"/>
              <a:t>, a </a:t>
            </a:r>
            <a:r>
              <a:rPr lang="en-US" altLang="en-GB" sz="2800" b="1"/>
              <a:t>high-performance</a:t>
            </a:r>
            <a:r>
              <a:rPr lang="en-US" altLang="en-GB" sz="2800"/>
              <a:t>, </a:t>
            </a:r>
            <a:r>
              <a:rPr lang="en-US" altLang="en-GB" sz="2800" b="1"/>
              <a:t>fault-tolerant</a:t>
            </a:r>
            <a:r>
              <a:rPr lang="en-US" altLang="en-GB" sz="2800"/>
              <a:t>, and </a:t>
            </a:r>
            <a:r>
              <a:rPr lang="en-US" altLang="en-GB" sz="2800" b="1"/>
              <a:t>distributed </a:t>
            </a:r>
            <a:endParaRPr lang="en-US" altLang="en-GB" sz="2800" b="1"/>
          </a:p>
          <a:p>
            <a:r>
              <a:rPr lang="en-US" altLang="en-GB" sz="2800" b="1"/>
              <a:t>in-memory Key-Value Store</a:t>
            </a:r>
            <a:r>
              <a:rPr lang="en-US" altLang="en-GB" sz="2800"/>
              <a:t> developed entirely in </a:t>
            </a:r>
            <a:r>
              <a:rPr lang="en-US" altLang="en-GB" sz="2800" b="1"/>
              <a:t>Python.</a:t>
            </a:r>
            <a:endParaRPr lang="en-US" altLang="en-GB" sz="2800"/>
          </a:p>
          <a:p>
            <a:endParaRPr lang="en-US" altLang="en-GB" sz="2800"/>
          </a:p>
          <a:p>
            <a:r>
              <a:rPr lang="en-US" altLang="en-GB" sz="2800"/>
              <a:t>                                                                                             </a:t>
            </a:r>
            <a:endParaRPr lang="en-US" altLang="en-GB" sz="2800"/>
          </a:p>
          <a:p>
            <a:r>
              <a:rPr lang="en-US" altLang="en-GB" sz="2400"/>
              <a:t>Presented By:</a:t>
            </a:r>
            <a:endParaRPr lang="en-US" altLang="en-GB" sz="2400"/>
          </a:p>
          <a:p>
            <a:r>
              <a:rPr lang="en-US" altLang="en-GB" sz="2800"/>
              <a:t>     </a:t>
            </a:r>
            <a:r>
              <a:rPr lang="en-US" altLang="en-GB" sz="2400"/>
              <a:t>Gayatri Kolapati  </a:t>
            </a:r>
            <a:r>
              <a:rPr lang="en-US" altLang="en-GB" sz="2800"/>
              <a:t>                    </a:t>
            </a:r>
            <a:endParaRPr lang="en-US" altLang="en-GB"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GB" b="1"/>
              <a:t>Module 1: Core System Architecture</a:t>
            </a:r>
            <a:br>
              <a:rPr lang="en-US" altLang="en-GB" sz="2665" b="1"/>
            </a:br>
            <a:endParaRPr lang="en-US" altLang="en-GB" sz="2665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1135"/>
            <a:ext cx="10515600" cy="4716145"/>
          </a:xfrm>
        </p:spPr>
        <p:txBody>
          <a:bodyPr>
            <a:normAutofit fontScale="90000"/>
          </a:bodyPr>
          <a:p>
            <a:r>
              <a:rPr lang="en-US" altLang="en-GB" b="1"/>
              <a:t>Objective:</a:t>
            </a:r>
            <a:r>
              <a:rPr lang="en-US" altLang="en-GB"/>
              <a:t> Establish the high-speed, non-blocking foundation.In-Memory Storage: The core data structure is a native dictionary, ensuring O(1) average time complexity for all fundamental operations: GET , SET and DELETE.</a:t>
            </a:r>
            <a:endParaRPr lang="en-US" altLang="en-GB"/>
          </a:p>
          <a:p>
            <a:r>
              <a:rPr lang="en-US" altLang="en-GB" b="1"/>
              <a:t>Asynchronous API Exposure:</a:t>
            </a:r>
            <a:r>
              <a:rPr lang="en-US" altLang="en-GB"/>
              <a:t> We utilize FastAPI to expose these operations.  This framework, combined with Python's async,await paradigm, ensures the server handles high concurrency using a non-blocking architecture, maximizing Request Per Second throughput.</a:t>
            </a:r>
            <a:endParaRPr lang="en-US" altLang="en-GB"/>
          </a:p>
          <a:p>
            <a:r>
              <a:rPr lang="en-US" altLang="en-GB" b="1"/>
              <a:t>Key Functions:</a:t>
            </a:r>
            <a:endParaRPr lang="en-US" altLang="en-GB" b="1"/>
          </a:p>
          <a:p>
            <a:pPr marL="0" indent="0">
              <a:buNone/>
            </a:pPr>
            <a:r>
              <a:rPr lang="en-US" altLang="en-GB"/>
              <a:t>   </a:t>
            </a:r>
            <a:r>
              <a:rPr lang="en-US" altLang="en-GB" b="1"/>
              <a:t>  get(key): </a:t>
            </a:r>
            <a:r>
              <a:rPr lang="en-US" altLang="en-GB"/>
              <a:t>Data retrieval from the in-memory   store.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   </a:t>
            </a:r>
            <a:r>
              <a:rPr lang="en-US" altLang="en-GB" b="1"/>
              <a:t>set(key, value):</a:t>
            </a:r>
            <a:r>
              <a:rPr lang="en-US" altLang="en-GB"/>
              <a:t> Insertion or update of a key-value pair.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   </a:t>
            </a:r>
            <a:r>
              <a:rPr lang="en-US" altLang="en-GB" b="1"/>
              <a:t>delete(key):</a:t>
            </a:r>
            <a:r>
              <a:rPr lang="en-US" altLang="en-GB"/>
              <a:t> Removal of a key-value pair.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pPr marL="0" indent="0">
              <a:buNone/>
            </a:pPr>
            <a:endParaRPr lang="en-US" alt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/>
              <a:t>Module 2: Performance and Integrity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/>
              <a:t> Least Recently Used (LRU) Caching</a:t>
            </a:r>
            <a:endParaRPr lang="en-US" altLang="en-GB" b="1"/>
          </a:p>
          <a:p>
            <a:r>
              <a:rPr lang="en-US" altLang="en-GB" b="1"/>
              <a:t>Purpose: </a:t>
            </a:r>
            <a:r>
              <a:rPr lang="en-US" altLang="en-GB"/>
              <a:t>To manage finite memory resources and maintain high cache hit rates by implementing an effective eviction policy.</a:t>
            </a:r>
            <a:endParaRPr lang="en-US" altLang="en-GB"/>
          </a:p>
          <a:p>
            <a:r>
              <a:rPr lang="en-US" altLang="en-GB" b="1"/>
              <a:t>Implementation:</a:t>
            </a:r>
            <a:r>
              <a:rPr lang="en-US" altLang="en-GB"/>
              <a:t> The LRU mechanism is built using a hybrid structure: </a:t>
            </a:r>
            <a:r>
              <a:rPr lang="en-US" altLang="en-GB" b="1"/>
              <a:t>a Hash Map</a:t>
            </a:r>
            <a:r>
              <a:rPr lang="en-US" altLang="en-GB"/>
              <a:t> (Python Dictionary) for O(1) key access, integrated with a </a:t>
            </a:r>
            <a:r>
              <a:rPr lang="en-US" altLang="en-GB" b="1"/>
              <a:t>Doubly Linked List </a:t>
            </a:r>
            <a:r>
              <a:rPr lang="en-US" altLang="en-GB"/>
              <a:t>for O(1) maintenance of usage order.</a:t>
            </a:r>
            <a:endParaRPr lang="en-US" altLang="en-GB"/>
          </a:p>
          <a:p>
            <a:r>
              <a:rPr lang="en-US" altLang="en-GB" b="1"/>
              <a:t>Eviction Principle:</a:t>
            </a:r>
            <a:r>
              <a:rPr lang="en-US" altLang="en-GB"/>
              <a:t> When capacity is exceeded, the item at the tail of the linked list (Least Recently Used) is instantaneously evicted.</a:t>
            </a:r>
            <a:endParaRPr lang="en-US" alt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/>
              <a:t>Pydantic Data Validation</a:t>
            </a:r>
            <a:endParaRPr lang="en-US" altLang="en-GB" b="1"/>
          </a:p>
          <a:p>
            <a:r>
              <a:rPr lang="en-US" altLang="en-GB" b="1"/>
              <a:t>Integrity Enforcement:</a:t>
            </a:r>
            <a:r>
              <a:rPr lang="en-US" altLang="en-GB"/>
              <a:t> All incoming API requests are subjected to validation using Pydantic.</a:t>
            </a:r>
            <a:endParaRPr lang="en-US" altLang="en-GB"/>
          </a:p>
          <a:p>
            <a:r>
              <a:rPr lang="en-US" altLang="en-GB" b="1"/>
              <a:t>Benefit:</a:t>
            </a:r>
            <a:r>
              <a:rPr lang="en-US" altLang="en-GB"/>
              <a:t> This ensures data typing, structure, and constraints are met before the request reaches the core logic, enhancing system reliability and preventing injection of malformed data.</a:t>
            </a:r>
            <a:endParaRPr lang="en-US" alt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GB" b="1"/>
              <a:t>Module 3: Durability and Crash Recovery</a:t>
            </a:r>
            <a:br>
              <a:rPr lang="en-US" altLang="en-GB" b="1"/>
            </a:br>
            <a:r>
              <a:rPr lang="en-US" altLang="en-GB" sz="3555" b="1"/>
              <a:t>(Persistence and Recovery)</a:t>
            </a:r>
            <a:endParaRPr lang="en-US" altLang="en-GB" sz="3555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 b="1"/>
              <a:t>Goal: </a:t>
            </a:r>
            <a:r>
              <a:rPr lang="en-US" altLang="en-GB"/>
              <a:t>Achieve data durability and fault-tolerance, making the system crash-safe.</a:t>
            </a:r>
            <a:endParaRPr lang="en-US" altLang="en-GB"/>
          </a:p>
          <a:p>
            <a:r>
              <a:rPr lang="en-US" altLang="en-GB" b="1"/>
              <a:t>Mechanism:</a:t>
            </a:r>
            <a:r>
              <a:rPr lang="en-US" altLang="en-GB"/>
              <a:t> </a:t>
            </a:r>
            <a:r>
              <a:rPr lang="en-US" altLang="en-GB" b="1"/>
              <a:t>Write-Ahead Logging (WAL):</a:t>
            </a:r>
            <a:r>
              <a:rPr lang="en-US" altLang="en-GB"/>
              <a:t> All mutating operations SET andDELETE are recorded to an append-only log file on persistent storage before the client receives confirmation.</a:t>
            </a:r>
            <a:endParaRPr lang="en-US" altLang="en-GB"/>
          </a:p>
          <a:p>
            <a:r>
              <a:rPr lang="en-US" altLang="en-GB" b="1"/>
              <a:t>System Recovery:</a:t>
            </a:r>
            <a:r>
              <a:rPr lang="en-US" altLang="en-GB"/>
              <a:t> Upon system restart, the Recovery module reads the entire append-only log file sequentially to fully rebuild the in-memory data store to its last committed state.</a:t>
            </a:r>
            <a:endParaRPr lang="en-US" alt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565" y="365125"/>
            <a:ext cx="10516235" cy="1325880"/>
          </a:xfrm>
        </p:spPr>
        <p:txBody>
          <a:bodyPr>
            <a:normAutofit/>
          </a:bodyPr>
          <a:p>
            <a:r>
              <a:rPr lang="en-US" altLang="en-GB" b="1">
                <a:sym typeface="+mn-ea"/>
              </a:rPr>
              <a:t>Optimization: Log Compaction</a:t>
            </a:r>
            <a:endParaRPr lang="en-GB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1005"/>
            <a:ext cx="10515600" cy="4351338"/>
          </a:xfrm>
        </p:spPr>
        <p:txBody>
          <a:bodyPr>
            <a:normAutofit fontScale="90000" lnSpcReduction="20000"/>
          </a:bodyPr>
          <a:p>
            <a:endParaRPr lang="en-US" altLang="en-GB"/>
          </a:p>
          <a:p>
            <a:r>
              <a:rPr lang="en-US" altLang="en-GB" b="1"/>
              <a:t>Challenge:</a:t>
            </a:r>
            <a:r>
              <a:rPr lang="en-US" altLang="en-GB"/>
              <a:t> 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    The log file size grows rapidly due to multiple updates to the same key.</a:t>
            </a:r>
            <a:endParaRPr lang="en-US" altLang="en-GB"/>
          </a:p>
          <a:p>
            <a:endParaRPr lang="en-US" altLang="en-GB"/>
          </a:p>
          <a:p>
            <a:r>
              <a:rPr lang="en-US" altLang="en-GB" b="1"/>
              <a:t>Compaction Process:</a:t>
            </a:r>
            <a:r>
              <a:rPr lang="en-US" altLang="en-GB"/>
              <a:t> A background process scans the log, discards superseded records (e.g., old versions of updated keys or deleted keys), and creates a new, condensed log file. [Image comparing an uncompacted append-only log file with redundant operations to a compacted log file with only the final, relevant operations]</a:t>
            </a:r>
            <a:endParaRPr lang="en-US" altLang="en-GB"/>
          </a:p>
          <a:p>
            <a:endParaRPr lang="en-US" altLang="en-GB"/>
          </a:p>
          <a:p>
            <a:r>
              <a:rPr lang="en-US" altLang="en-GB" b="1"/>
              <a:t>Benefit:</a:t>
            </a:r>
            <a:r>
              <a:rPr lang="en-US" altLang="en-GB"/>
              <a:t> Dramatically reduces persistent storage requirements and accelerates recovery time.</a:t>
            </a:r>
            <a:endParaRPr lang="en-US" alt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GB" b="1"/>
              <a:t>Module 4: Distribution and Client Interface</a:t>
            </a:r>
            <a:br>
              <a:rPr lang="en-US" altLang="en-GB" b="1"/>
            </a:br>
            <a:r>
              <a:rPr lang="en-US" altLang="en-GB" sz="3555" b="1"/>
              <a:t>(Replication and Interface)</a:t>
            </a:r>
            <a:endParaRPr lang="en-US" altLang="en-GB" sz="3555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63445"/>
            <a:ext cx="10515600" cy="4351338"/>
          </a:xfrm>
        </p:spPr>
        <p:txBody>
          <a:bodyPr/>
          <a:p>
            <a:pPr marL="0" indent="0">
              <a:buNone/>
            </a:pPr>
            <a:r>
              <a:rPr lang="en-US" altLang="en-GB" b="1"/>
              <a:t>Master-Replica Replication</a:t>
            </a:r>
            <a:endParaRPr lang="en-US" altLang="en-GB" b="1"/>
          </a:p>
          <a:p>
            <a:r>
              <a:rPr lang="en-US" altLang="en-GB" b="1"/>
              <a:t>High Availability (HA): </a:t>
            </a:r>
            <a:r>
              <a:rPr lang="en-US" altLang="en-GB"/>
              <a:t>We implemented an asynchronous log-shipping mechanism to achieve redundancy.</a:t>
            </a:r>
            <a:endParaRPr lang="en-US" altLang="en-GB"/>
          </a:p>
          <a:p>
            <a:r>
              <a:rPr lang="en-US" altLang="en-GB" b="1"/>
              <a:t>Process:</a:t>
            </a:r>
            <a:r>
              <a:rPr lang="en-US" altLang="en-GB"/>
              <a:t> The primary Master Server ships its append-only log entries to a designated Replica (Backup) Server.</a:t>
            </a:r>
            <a:endParaRPr lang="en-US" altLang="en-GB"/>
          </a:p>
          <a:p>
            <a:r>
              <a:rPr lang="en-US" altLang="en-GB" b="1"/>
              <a:t>Outcome:</a:t>
            </a:r>
            <a:r>
              <a:rPr lang="en-US" altLang="en-GB"/>
              <a:t> Ensures high availability and failover capability in the event of a Master node failure.</a:t>
            </a:r>
            <a:endParaRPr lang="en-US" altLang="en-GB"/>
          </a:p>
        </p:txBody>
      </p:sp>
      <p:sp>
        <p:nvSpPr>
          <p:cNvPr id="4" name="Text Box 3"/>
          <p:cNvSpPr txBox="1"/>
          <p:nvPr/>
        </p:nvSpPr>
        <p:spPr>
          <a:xfrm>
            <a:off x="10701655" y="8864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ym typeface="+mn-ea"/>
              </a:rPr>
              <a:t>Client Interface and Benchmarking</a:t>
            </a:r>
            <a:endParaRPr lang="en-GB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 b="1"/>
              <a:t>CLI Client: </a:t>
            </a:r>
            <a:r>
              <a:rPr lang="en-US" altLang="en-GB"/>
              <a:t>A dedicated Command Line Interface (CLI) was developed using the Python requests library to provide a user-friendly way to interact with the PyKV  HTTP API.</a:t>
            </a:r>
            <a:endParaRPr lang="en-US" altLang="en-GB"/>
          </a:p>
          <a:p>
            <a:r>
              <a:rPr lang="en-US" altLang="en-GB" b="1"/>
              <a:t>Performance Verification: </a:t>
            </a:r>
            <a:r>
              <a:rPr lang="en-US" altLang="en-GB"/>
              <a:t>Rigorous benchmarking was conducted to measure system performance under load, focusing on: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</a:t>
            </a:r>
            <a:r>
              <a:rPr lang="en-US" altLang="en-GB" b="1"/>
              <a:t> Throughput (</a:t>
            </a:r>
            <a:r>
              <a:rPr lang="en-US" altLang="en-GB"/>
              <a:t>RPS)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</a:t>
            </a:r>
            <a:r>
              <a:rPr lang="en-US" altLang="en-GB" b="1"/>
              <a:t> Latency </a:t>
            </a:r>
            <a:r>
              <a:rPr lang="en-US" altLang="en-GB"/>
              <a:t>(particularly for write operations involving disk I/O)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Validation of system scalability.</a:t>
            </a:r>
            <a:endParaRPr lang="en-US" alt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/>
              <a:t>PyKV: Integrated Workflow</a:t>
            </a:r>
            <a:endParaRPr lang="en-US" altLang="en-GB" b="1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 t="10478" b="9559"/>
          <a:stretch>
            <a:fillRect/>
          </a:stretch>
        </p:blipFill>
        <p:spPr>
          <a:xfrm>
            <a:off x="2400935" y="1562100"/>
            <a:ext cx="7880985" cy="47066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4865" y="2226945"/>
            <a:ext cx="5187315" cy="2251710"/>
          </a:xfrm>
        </p:spPr>
        <p:txBody>
          <a:bodyPr>
            <a:scene3d>
              <a:camera prst="orthographicFront"/>
              <a:lightRig rig="threePt" dir="t"/>
            </a:scene3d>
          </a:bodyPr>
          <a:p>
            <a:r>
              <a:rPr lang="en-US" altLang="en-GB" sz="6600" b="1">
                <a:ln/>
                <a:solidFill>
                  <a:schemeClr val="accent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a:rPr>
              <a:t>  THANK YOU</a:t>
            </a:r>
            <a:endParaRPr lang="en-US" altLang="en-GB" sz="6600" b="1">
              <a:ln/>
              <a:solidFill>
                <a:schemeClr val="accent1"/>
              </a:solidFill>
              <a:effectLst>
                <a:glow rad="63500">
                  <a:schemeClr val="accent3">
                    <a:satMod val="175000"/>
                    <a:alpha val="40000"/>
                  </a:schemeClr>
                </a:glow>
                <a:innerShdw blurRad="63500" dist="50800" dir="18900000">
                  <a:prstClr val="black">
                    <a:alpha val="50000"/>
                  </a:prstClr>
                </a:inn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4688</Words>
  <Application>WPS Presentation</Application>
  <PresentationFormat>Widescreen</PresentationFormat>
  <Paragraphs>119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Google Sans</vt:lpstr>
      <vt:lpstr>Google Sans Text</vt:lpstr>
      <vt:lpstr>Arial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Gayatri Kolapati</cp:lastModifiedBy>
  <cp:revision>4</cp:revision>
  <dcterms:created xsi:type="dcterms:W3CDTF">2025-07-23T00:59:00Z</dcterms:created>
  <dcterms:modified xsi:type="dcterms:W3CDTF">2025-12-11T04:29:51Z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FC486835FB714BDEBD2F71349A1F952D_11</vt:lpwstr>
  </property>
  <property fmtid="{D5CDD505-2E9C-101B-9397-08002B2CF9AE}" pid="3" name="KSOProductBuildVer">
    <vt:lpwstr>2057-12.2.0.23158</vt:lpwstr>
  </property>
</Properties>
</file>